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057400"/>
            <a:ext cx="11990527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08000"/>
              </a:lnSpc>
            </a:pPr>
            <a:r>
              <a:rPr sz="4600" b="1">
                <a:solidFill>
                  <a:srgbClr val="0B0B0B"/>
                </a:solidFill>
                <a:latin typeface="Helvetica Neue"/>
              </a:rPr>
              <a:t>Compositional Temporal
Audio Grounding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3611880"/>
            <a:ext cx="119905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1000"/>
              </a:spcAft>
            </a:pPr>
            <a:r>
              <a:rPr sz="1800" b="0">
                <a:solidFill>
                  <a:srgbClr val="52514E"/>
                </a:solidFill>
                <a:latin typeface="Helvetica Neue"/>
              </a:rPr>
              <a:t>Finding </a:t>
            </a:r>
            <a:r>
              <a:rPr sz="1800" b="1">
                <a:solidFill>
                  <a:srgbClr val="0B0B0B"/>
                </a:solidFill>
                <a:latin typeface="Helvetica Neue"/>
              </a:rPr>
              <a:t>when</a:t>
            </a:r>
            <a:r>
              <a:rPr sz="1800" b="0">
                <a:solidFill>
                  <a:srgbClr val="52514E"/>
                </a:solidFill>
                <a:latin typeface="Helvetica Neue"/>
              </a:rPr>
              <a:t> a sound happens — when the question depends on another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4572000"/>
            <a:ext cx="1199052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8A8880"/>
                </a:solidFill>
                <a:latin typeface="Helvetica Neue"/>
              </a:rPr>
              <a:t>Anirudh Rangavajhala   ·   M.Tech, IIIT Dharwad</a:t>
            </a:r>
          </a:p>
          <a:p>
            <a:pPr algn="ctr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8A8880"/>
                </a:solidFill>
                <a:latin typeface="Helvetica Neue"/>
              </a:rPr>
              <a:t>12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THE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A timestamp question that needs two sounds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74519"/>
            <a:ext cx="5577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600" b="0">
                <a:solidFill>
                  <a:srgbClr val="2F2E2B"/>
                </a:solidFill>
                <a:latin typeface="Helvetica Neue"/>
              </a:rPr>
              <a:t>Audio LLMs are now asked </a:t>
            </a:r>
            <a:r>
              <a:rPr sz="1600" b="1">
                <a:solidFill>
                  <a:srgbClr val="0B0B0B"/>
                </a:solidFill>
                <a:latin typeface="Helvetica Neue"/>
              </a:rPr>
              <a:t>when</a:t>
            </a:r>
            <a:r>
              <a:rPr sz="1600" b="0">
                <a:solidFill>
                  <a:srgbClr val="2F2E2B"/>
                </a:solidFill>
                <a:latin typeface="Helvetica Neue"/>
              </a:rPr>
              <a:t> something happens, not just what.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600" b="0">
                <a:solidFill>
                  <a:srgbClr val="2F2E2B"/>
                </a:solidFill>
                <a:latin typeface="Helvetica Neue"/>
              </a:rPr>
              <a:t>Today that means one sound at a time: “find the dog barking.”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600" b="0">
                <a:solidFill>
                  <a:srgbClr val="2F2E2B"/>
                </a:solidFill>
                <a:latin typeface="Helvetica Neue"/>
              </a:rPr>
              <a:t>Real questions are </a:t>
            </a:r>
            <a:r>
              <a:rPr sz="1600" b="1">
                <a:solidFill>
                  <a:srgbClr val="0B0B0B"/>
                </a:solidFill>
                <a:latin typeface="Helvetica Neue"/>
              </a:rPr>
              <a:t>compositional</a:t>
            </a:r>
            <a:r>
              <a:rPr sz="1600" b="0">
                <a:solidFill>
                  <a:srgbClr val="2F2E2B"/>
                </a:solidFill>
                <a:latin typeface="Helvetica Neue"/>
              </a:rPr>
              <a:t> — the answer depends on a second event, on order, or on overlap.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783080"/>
            <a:ext cx="4800600" cy="3291840"/>
          </a:xfrm>
          <a:prstGeom prst="rect">
            <a:avLst/>
          </a:prstGeom>
          <a:solidFill>
            <a:srgbClr val="F4F7FC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700" b="0">
                <a:solidFill>
                  <a:srgbClr val="52514E"/>
                </a:solidFill>
                <a:latin typeface="Helvetica Neue"/>
              </a:rPr>
              <a:t>“the car horn </a:t>
            </a:r>
            <a:r>
              <a:rPr sz="1700" b="1">
                <a:solidFill>
                  <a:srgbClr val="0B0B0B"/>
                </a:solidFill>
                <a:latin typeface="Helvetica Neue"/>
              </a:rPr>
              <a:t>after</a:t>
            </a:r>
            <a:r>
              <a:rPr sz="1700" b="0">
                <a:solidFill>
                  <a:srgbClr val="52514E"/>
                </a:solidFill>
                <a:latin typeface="Helvetica Neue"/>
              </a:rPr>
              <a:t> the siren”
“the </a:t>
            </a:r>
            <a:r>
              <a:rPr sz="1700" b="1">
                <a:solidFill>
                  <a:srgbClr val="0B0B0B"/>
                </a:solidFill>
                <a:latin typeface="Helvetica Neue"/>
              </a:rPr>
              <a:t>second</a:t>
            </a:r>
            <a:r>
              <a:rPr sz="1700" b="0">
                <a:solidFill>
                  <a:srgbClr val="52514E"/>
                </a:solidFill>
                <a:latin typeface="Helvetica Neue"/>
              </a:rPr>
              <a:t> bark”
“the dog barking </a:t>
            </a:r>
            <a:r>
              <a:rPr sz="1700" b="1">
                <a:solidFill>
                  <a:srgbClr val="0B0B0B"/>
                </a:solidFill>
                <a:latin typeface="Helvetica Neue"/>
              </a:rPr>
              <a:t>while</a:t>
            </a:r>
            <a:r>
              <a:rPr sz="1700" b="0">
                <a:solidFill>
                  <a:srgbClr val="52514E"/>
                </a:solidFill>
                <a:latin typeface="Helvetica Neue"/>
              </a:rPr>
              <a:t> music plays”
“the bark </a:t>
            </a:r>
            <a:r>
              <a:rPr sz="1700" b="1">
                <a:solidFill>
                  <a:srgbClr val="0B0B0B"/>
                </a:solidFill>
                <a:latin typeface="Helvetica Neue"/>
              </a:rPr>
              <a:t>not followed by</a:t>
            </a:r>
            <a:r>
              <a:rPr sz="1700" b="0">
                <a:solidFill>
                  <a:srgbClr val="52514E"/>
                </a:solidFill>
                <a:latin typeface="Helvetica Neue"/>
              </a:rPr>
              <a:t> a door slam”
“the </a:t>
            </a:r>
            <a:r>
              <a:rPr sz="1700" b="1">
                <a:solidFill>
                  <a:srgbClr val="0B0B0B"/>
                </a:solidFill>
                <a:latin typeface="Helvetica Neue"/>
              </a:rPr>
              <a:t>next</a:t>
            </a:r>
            <a:r>
              <a:rPr sz="1700" b="0">
                <a:solidFill>
                  <a:srgbClr val="52514E"/>
                </a:solidFill>
                <a:latin typeface="Helvetica Neue"/>
              </a:rPr>
              <a:t> bark after 4.0 s”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3492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 b="0">
                <a:solidFill>
                  <a:srgbClr val="52514E"/>
                </a:solidFill>
                <a:latin typeface="Helvetica Neue"/>
              </a:rPr>
              <a:t>The answer is a </a:t>
            </a:r>
            <a:r>
              <a:rPr sz="1500" b="1">
                <a:solidFill>
                  <a:srgbClr val="0B0B0B"/>
                </a:solidFill>
                <a:latin typeface="Helvetica Neue"/>
              </a:rPr>
              <a:t>set of intervals</a:t>
            </a:r>
            <a:r>
              <a:rPr sz="1500" b="0">
                <a:solidFill>
                  <a:srgbClr val="52514E"/>
                </a:solidFill>
                <a:latin typeface="Helvetica Neue"/>
              </a:rPr>
              <a:t>, and it can legitimately be empty — which is itself a thing to get right.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RELATED WORK  · 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Temporal grounding in audio LLMs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783080"/>
          <a:ext cx="10765229" cy="39822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93076"/>
                <a:gridCol w="5108923"/>
                <a:gridCol w="2463230"/>
              </a:tblGrid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52514E"/>
                          </a:solidFill>
                          <a:latin typeface="Helvetica Neue"/>
                        </a:rPr>
                        <a:t>Work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52514E"/>
                          </a:solidFill>
                          <a:latin typeface="Helvetica Neue"/>
                        </a:rPr>
                        <a:t>Contribution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52514E"/>
                          </a:solidFill>
                          <a:latin typeface="Helvetica Neue"/>
                        </a:rPr>
                        <a:t>Query form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TimeAudio (2511.11039)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Temporal markers, time-aware encoding, segment-level token merging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single event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SpotSound (2604.13023)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Suppresses hallucinated timestamps for absent events; SpotSound-Bench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single event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Audio-Side Time Prompt (2604.13715)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TimePro-RL: timestamps embedded in the audio features, SFT then RL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single event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TEMPO (2608.29999)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Multi-task post-training, SFT + RL across speech, music and audio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single event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Auto-AEG (2607.04383)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Synthesised clips + multi-model pseudo-labels, RL; introduces AEGBench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list all intervals of X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AudioMap (2608.09559)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Cloze-and-choice RL for time-aware dense audio captioning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dense captions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Listening with Time (2604.22245)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Global-to-local iterative reasoning over long-form audio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single event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Encode Once, Decode Never (2602.10230)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Reuses audio-LM internals to localise; 50x faster than decoding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single event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LA-RAG (2602.14612)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Event-grounded QA over long audio via structured retrieval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retrieval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SpectCount (2606.06907)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Counting via synthetic spectrotemporal signals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counts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TAG-Bench (2609.01542)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1,750 query–recording pairs, 149.5 h, eight subsets, 7 s to 20 min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benchmark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DCASE 2026 Task 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Audio Moment Retrieval from Long Audio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2F2E2B"/>
                          </a:solidFill>
                          <a:latin typeface="Helvetica Neue"/>
                        </a:rPr>
                        <a:t>one moment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13232" y="5806440"/>
            <a:ext cx="10765231" cy="566928"/>
          </a:xfrm>
          <a:prstGeom prst="rect">
            <a:avLst/>
          </a:prstGeom>
          <a:solidFill>
            <a:srgbClr val="F4F7FC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300" b="0">
                <a:solidFill>
                  <a:srgbClr val="52514E"/>
                </a:solidFill>
                <a:latin typeface="Helvetica Neue"/>
              </a:rPr>
              <a:t>Every one of these localises </a:t>
            </a:r>
            <a:r>
              <a:rPr sz="1300" b="1">
                <a:solidFill>
                  <a:srgbClr val="0B0B0B"/>
                </a:solidFill>
                <a:latin typeface="Helvetica Neue"/>
              </a:rPr>
              <a:t>one sound named on its own</a:t>
            </a:r>
            <a:r>
              <a:rPr sz="1300" b="0">
                <a:solidFill>
                  <a:srgbClr val="52514E"/>
                </a:solidFill>
                <a:latin typeface="Helvetica Neue"/>
              </a:rPr>
              <a:t>. None takes a query whose answer depends on a second event.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RELATED WORK  · 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Compositional and relational queries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755648"/>
          <a:ext cx="10765229" cy="4187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40461"/>
                <a:gridCol w="4014153"/>
                <a:gridCol w="3010615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52514E"/>
                          </a:solidFill>
                          <a:latin typeface="Helvetica Neue"/>
                        </a:rPr>
                        <a:t>Work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52514E"/>
                          </a:solidFill>
                          <a:latin typeface="Helvetica Neue"/>
                        </a:rPr>
                        <a:t>Contribution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52514E"/>
                          </a:solidFill>
                          <a:latin typeface="Helvetica Neue"/>
                        </a:rPr>
                        <a:t>What it does not do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DAQA — Fayek &amp; Johnson, TASLP 2020 (1911.09655)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Programmatic before / after / ordinal / count questions; MALiMo model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Answers are event names, yes/no or counts — never intervals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Sridhar et al., NAACL 2025 Industry, Qualcomm (2409.06223)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GPT-4 temporal QA from AudioSet-SL; curriculum fine-tune of LTU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Free-text QA; no interval output, no IoU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0B0B0B"/>
                          </a:solidFill>
                          <a:latin typeface="Helvetica Neue"/>
                        </a:rPr>
                        <a:t>TREA — Interspeech 2025 (2505.13115)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0B0B0B"/>
                          </a:solidFill>
                          <a:latin typeface="Helvetica Neue"/>
                        </a:rPr>
                        <a:t>Composed ESC-50, as here</a:t>
                      </a: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; duration / ordering / counting, 600 items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Concatenation only, so no concurrency; MCQ, not intervals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Oncescu et al., ACM MM 2024 (2409.00851)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Temporal ordering in text-to-audio retrieval; TempTest sets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Retrieval, not localisation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PolyBench — Interspeech 2026 (2603.05128)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Counting, classification, detection, concurrency, duration on polyphonic audio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Multiple choice; no conditional interval sets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CompA-order — ICLR 2024 (2310.08753)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400 audio–caption matching instances probing event order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Matching, not grounding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STAR-Bench (2510.24693), MMAU (2410.19168)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Segment reordering, spatial localisation; 27 tasks, 10k clips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Multiple choice; no grounding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CoMET-Bench (2606.15320) — </a:t>
                      </a:r>
                      <a:r>
                        <a:rPr sz="950" b="1">
                          <a:solidFill>
                            <a:srgbClr val="0B0B0B"/>
                          </a:solidFill>
                          <a:latin typeface="Helvetica Neue"/>
                        </a:rPr>
                        <a:t>video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Conditional multi-event grounding, 4 temporal + 3 spatial conditions,</a:t>
                      </a: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Rejection-F1, CoMET-Agent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Video only; no superposition-based “while”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CompSTVG (2608.30584) — </a:t>
                      </a:r>
                      <a:r>
                        <a:rPr sz="950" b="1">
                          <a:solidFill>
                            <a:srgbClr val="0B0B0B"/>
                          </a:solidFill>
                          <a:latin typeface="Helvetica Neue"/>
                        </a:rPr>
                        <a:t>video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Scene-graph synthetic curriculum plus curriculum RL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Video only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MUSEG (2505.20715),</a:t>
                      </a:r>
                    </a:p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One-to-Many TG (2606.06294) — </a:t>
                      </a:r>
                      <a:r>
                        <a:rPr sz="950" b="1">
                          <a:solidFill>
                            <a:srgbClr val="0B0B0B"/>
                          </a:solidFill>
                          <a:latin typeface="Helvetica Neue"/>
                        </a:rPr>
                        <a:t>video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Multi-segment grounding; RL with completeness rewards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2F2E2B"/>
                          </a:solidFill>
                          <a:latin typeface="Helvetica Neue"/>
                        </a:rPr>
                        <a:t>Video only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13232" y="5888736"/>
            <a:ext cx="10765231" cy="457200"/>
          </a:xfrm>
          <a:prstGeom prst="rect">
            <a:avLst/>
          </a:prstGeom>
          <a:solidFill>
            <a:srgbClr val="F4F7FC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200" b="1">
                <a:solidFill>
                  <a:srgbClr val="0B0B0B"/>
                </a:solidFill>
                <a:latin typeface="Helvetica Neue"/>
              </a:rPr>
              <a:t>TREA is the closest neighbour</a:t>
            </a:r>
            <a:r>
              <a:rPr sz="1200" b="0">
                <a:solidFill>
                  <a:srgbClr val="52514E"/>
                </a:solidFill>
                <a:latin typeface="Helvetica Neue"/>
              </a:rPr>
              <a:t>: same ESC-50 composition. It concatenates, so concurrency cannot arise, and its answers are multiple choice.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The gap the two halves leave open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965960"/>
          <a:ext cx="10765230" cy="22494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108923"/>
                <a:gridCol w="1915846"/>
                <a:gridCol w="2645692"/>
                <a:gridCol w="1094769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Interval-set output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Condition on a second event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Audio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Audio grounding work (TAG-Bench, TEMPO, Auto-AEG, …)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Audio relational QA (DAQA, Sridhar et al., PolyBench)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Video compositional grounding (CoMET-Bench, CompSTVG)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0B0B0B"/>
                          </a:solidFill>
                          <a:latin typeface="Helvetica Neue"/>
                        </a:rPr>
                        <a:t>This project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0B0B0B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0B0B0B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0B0B0B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370832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50" b="0">
                <a:solidFill>
                  <a:srgbClr val="2F2E2B"/>
                </a:solidFill>
                <a:latin typeface="Helvetica Neue"/>
              </a:rPr>
              <a:t>Each half of the task has a neighbour; the intersection is empty in audio. The video precedent (CoMET-Bench, 2026) shows the task shape is real and worth doing.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50" b="1">
                <a:solidFill>
                  <a:srgbClr val="0B0B0B"/>
                </a:solidFill>
                <a:latin typeface="Helvetica Neue"/>
              </a:rPr>
              <a:t>Cited, not claimed:</a:t>
            </a:r>
            <a:r>
              <a:rPr sz="1350" b="0">
                <a:solidFill>
                  <a:srgbClr val="2F2E2B"/>
                </a:solidFill>
                <a:latin typeface="Helvetica Neue"/>
              </a:rPr>
              <a:t> DAQA and Sridhar et al. are the query-generation precedents — the question templates are not new. The framing is a port of CoMET-Bench from video, and reviewers will say so.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5870448"/>
            <a:ext cx="10765231" cy="603504"/>
          </a:xfrm>
          <a:prstGeom prst="rect">
            <a:avLst/>
          </a:prstGeom>
          <a:solidFill>
            <a:srgbClr val="F4F7FC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52514E"/>
                </a:solidFill>
                <a:latin typeface="Helvetica Neue"/>
              </a:rPr>
              <a:t>The defence: mixing-made </a:t>
            </a:r>
            <a:r>
              <a:rPr sz="1350" b="1">
                <a:solidFill>
                  <a:srgbClr val="0B0B0B"/>
                </a:solidFill>
                <a:latin typeface="Helvetica Neue"/>
              </a:rPr>
              <a:t>while</a:t>
            </a:r>
            <a:r>
              <a:rPr sz="1350" b="0">
                <a:solidFill>
                  <a:srgbClr val="52514E"/>
                </a:solidFill>
                <a:latin typeface="Helvetica Neue"/>
              </a:rPr>
              <a:t> conditions (impossible in video), rejection queries, the ceiling diagnostic, and the miss/false-alarm asymmetry.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What was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74519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50" b="1">
                <a:solidFill>
                  <a:srgbClr val="0B0B0B"/>
                </a:solidFill>
                <a:latin typeface="Helvetica Neue"/>
              </a:rPr>
              <a:t>A benchmark generator.</a:t>
            </a:r>
            <a:r>
              <a:rPr sz="1550" b="0">
                <a:solidFill>
                  <a:srgbClr val="2F2E2B"/>
                </a:solidFill>
                <a:latin typeface="Helvetica Neue"/>
              </a:rPr>
              <a:t> Sounds are composed onto a known timeline, so ground truth is exact — no annotation, no label noise.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50" b="1">
                <a:solidFill>
                  <a:srgbClr val="0B0B0B"/>
                </a:solidFill>
                <a:latin typeface="Helvetica Neue"/>
              </a:rPr>
              <a:t>Eight query types</a:t>
            </a:r>
            <a:r>
              <a:rPr sz="1550" b="0">
                <a:solidFill>
                  <a:srgbClr val="2F2E2B"/>
                </a:solidFill>
                <a:latin typeface="Helvetica Neue"/>
              </a:rPr>
              <a:t>, including rejection queries whose correct answer is “no such event”.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50" b="1">
                <a:solidFill>
                  <a:srgbClr val="0B0B0B"/>
                </a:solidFill>
                <a:latin typeface="Helvetica Neue"/>
              </a:rPr>
              <a:t>Metrics</a:t>
            </a:r>
            <a:r>
              <a:rPr sz="1550" b="0">
                <a:solidFill>
                  <a:srgbClr val="2F2E2B"/>
                </a:solidFill>
                <a:latin typeface="Helvetica Neue"/>
              </a:rPr>
              <a:t> beyond f1: union-IoU, Hungarian matching, count accuracy, under-report rate, centre error, duration ratio.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50" b="1">
                <a:solidFill>
                  <a:srgbClr val="0B0B0B"/>
                </a:solidFill>
                <a:latin typeface="Helvetica Neue"/>
              </a:rPr>
              <a:t>Five arms</a:t>
            </a:r>
            <a:r>
              <a:rPr sz="1550" b="0">
                <a:solidFill>
                  <a:srgbClr val="2F2E2B"/>
                </a:solidFill>
                <a:latin typeface="Helvetica Neue"/>
              </a:rPr>
              <a:t> from one codebase, 40 passing tests.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874519"/>
          <a:ext cx="5074919" cy="27066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03680"/>
                <a:gridCol w="2756746"/>
                <a:gridCol w="814493"/>
              </a:tblGrid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Type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Query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n (test)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PLAIN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the dog bark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96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ORDINAL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the second bark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96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BEFORE / AFTER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the bark after the siren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89 / 89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NEXT_AFTER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the next bark after 4.0 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89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WHILE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the bark while music plays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96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NOT_FOLLOWED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a bark not followed by a slam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96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ABSENT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(rejection queries)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2F2E2B"/>
                          </a:solidFill>
                          <a:latin typeface="Helvetica Neue"/>
                        </a:rPr>
                        <a:t>48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0" y="5074920"/>
            <a:ext cx="5074920" cy="658368"/>
          </a:xfrm>
          <a:prstGeom prst="rect">
            <a:avLst/>
          </a:prstGeom>
          <a:solidFill>
            <a:srgbClr val="F4F7FC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400" b="1">
                <a:solidFill>
                  <a:srgbClr val="0B0B0B"/>
                </a:solidFill>
                <a:latin typeface="Helvetica Neue"/>
              </a:rPr>
              <a:t>4404 queries</a:t>
            </a:r>
            <a:r>
              <a:rPr sz="1400" b="0">
                <a:solidFill>
                  <a:srgbClr val="52514E"/>
                </a:solidFill>
                <a:latin typeface="Helvetica Neue"/>
              </a:rPr>
              <a:t> over 300 composed ESC-50 clips.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Architecture, as it runs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7</a:t>
            </a:r>
          </a:p>
        </p:txBody>
      </p:sp>
      <p:pic>
        <p:nvPicPr>
          <p:cNvPr id="6" name="Picture 5" descr="fig5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162" y="1645920"/>
            <a:ext cx="8887370" cy="4160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" y="5943600"/>
            <a:ext cx="10765231" cy="502920"/>
          </a:xfrm>
          <a:prstGeom prst="rect">
            <a:avLst/>
          </a:prstGeom>
          <a:solidFill>
            <a:srgbClr val="F4F7FC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250" b="0">
                <a:solidFill>
                  <a:srgbClr val="52514E"/>
                </a:solidFill>
                <a:latin typeface="Helvetica Neue"/>
              </a:rPr>
              <a:t>Three layers. </a:t>
            </a:r>
            <a:r>
              <a:rPr sz="1250" b="1">
                <a:solidFill>
                  <a:srgbClr val="0B0B0B"/>
                </a:solidFill>
                <a:latin typeface="Helvetica Neue"/>
              </a:rPr>
              <a:t>Build</a:t>
            </a:r>
            <a:r>
              <a:rPr sz="1250" b="0">
                <a:solidFill>
                  <a:srgbClr val="52514E"/>
                </a:solidFill>
                <a:latin typeface="Helvetica Neue"/>
              </a:rPr>
              <a:t> makes the audio and therefore knows the answer. </a:t>
            </a:r>
            <a:r>
              <a:rPr sz="1250" b="1">
                <a:solidFill>
                  <a:srgbClr val="0B0B0B"/>
                </a:solidFill>
                <a:latin typeface="Helvetica Neue"/>
              </a:rPr>
              <a:t>Answer</a:t>
            </a:r>
            <a:r>
              <a:rPr sz="1250" b="0">
                <a:solidFill>
                  <a:srgbClr val="52514E"/>
                </a:solidFill>
                <a:latin typeface="Helvetica Neue"/>
              </a:rPr>
              <a:t> is five arms from one codebase. </a:t>
            </a:r>
            <a:r>
              <a:rPr sz="1250" b="1">
                <a:solidFill>
                  <a:srgbClr val="0B0B0B"/>
                </a:solidFill>
                <a:latin typeface="Helvetica Neue"/>
              </a:rPr>
              <a:t>Score</a:t>
            </a:r>
            <a:r>
              <a:rPr sz="1250" b="0">
                <a:solidFill>
                  <a:srgbClr val="52514E"/>
                </a:solidFill>
                <a:latin typeface="Helvetica Neue"/>
              </a:rPr>
              <a:t> is one metrics module, so every arm is measured the same way.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Only one of the two candidate backbones can ground at 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8</a:t>
            </a:r>
          </a:p>
        </p:txBody>
      </p:sp>
      <p:pic>
        <p:nvPicPr>
          <p:cNvPr id="6" name="Picture 5" descr="fig1_backb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031" y="1828800"/>
            <a:ext cx="8659632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54406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400" b="0">
                <a:solidFill>
                  <a:srgbClr val="2F2E2B"/>
                </a:solidFill>
                <a:latin typeface="Helvetica Neue"/>
              </a:rPr>
              <a:t>Qwen2-Audio scores </a:t>
            </a:r>
            <a:r>
              <a:rPr sz="1400" b="1">
                <a:solidFill>
                  <a:srgbClr val="0B0B0B"/>
                </a:solidFill>
                <a:latin typeface="Helvetica Neue"/>
              </a:rPr>
              <a:t>0.094</a:t>
            </a:r>
            <a:r>
              <a:rPr sz="1400" b="0">
                <a:solidFill>
                  <a:srgbClr val="2F2E2B"/>
                </a:solidFill>
                <a:latin typeface="Helvetica Neue"/>
              </a:rPr>
              <a:t> on plain grounding and </a:t>
            </a:r>
            <a:r>
              <a:rPr sz="1400" b="1">
                <a:solidFill>
                  <a:srgbClr val="0B0B0B"/>
                </a:solidFill>
                <a:latin typeface="Helvetica Neue"/>
              </a:rPr>
              <a:t>exactly 0.000</a:t>
            </a:r>
            <a:r>
              <a:rPr sz="1400" b="0">
                <a:solidFill>
                  <a:srgbClr val="2F2E2B"/>
                </a:solidFill>
                <a:latin typeface="Helvetica Neue"/>
              </a:rPr>
              <a:t> on every conditional type — it emits well-formed intervals that land nowhere near the event. SpotSound (2604.13023, §4.1) reports the same failure mode: “syntactically complete time windows … resulting in zero overlap with the ground truth.”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400" b="1">
                <a:solidFill>
                  <a:srgbClr val="0B0B0B"/>
                </a:solidFill>
                <a:latin typeface="Helvetica Neue"/>
              </a:rPr>
              <a:t>Qwen2.5-Omni is the backbone.</a:t>
            </a:r>
            <a:r>
              <a:rPr sz="1400" b="0">
                <a:solidFill>
                  <a:srgbClr val="2F2E2B"/>
                </a:solidFill>
                <a:latin typeface="Helvetica Neue"/>
              </a:rPr>
              <a:t> It finds the sound, then drops the qualifier attached to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The hard part is not “conditions” — it is relating two events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965960"/>
          <a:ext cx="10765229" cy="11247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54461"/>
                <a:gridCol w="4014153"/>
                <a:gridCol w="4196615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Handled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Collapses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Qwen2.5-Omni, f1@0.5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BEFORE 0.379    ORDINAL 0.333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WHILE 0.152    AFTER 0.146</a:t>
                      </a: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2F2E2B"/>
                          </a:solidFill>
                          <a:latin typeface="Helvetica Neue"/>
                        </a:rPr>
                        <a:t>NOT_FOLLOWED 0.095    NEXT_AFTER 0.091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324612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600" b="0">
                <a:solidFill>
                  <a:srgbClr val="2F2E2B"/>
                </a:solidFill>
                <a:latin typeface="Helvetica Neue"/>
              </a:rPr>
              <a:t>ORDINAL needs only counting inside one event type. BEFORE needs one comparison against a single reference.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600" b="0">
                <a:solidFill>
                  <a:srgbClr val="2F2E2B"/>
                </a:solidFill>
                <a:latin typeface="Helvetica Neue"/>
              </a:rPr>
              <a:t>The four that collapse all require </a:t>
            </a:r>
            <a:r>
              <a:rPr sz="1600" b="1">
                <a:solidFill>
                  <a:srgbClr val="0B0B0B"/>
                </a:solidFill>
                <a:latin typeface="Helvetica Neue"/>
              </a:rPr>
              <a:t>relating the target to a second event and then selecting among the matches</a:t>
            </a:r>
            <a:r>
              <a:rPr sz="1600" b="0">
                <a:solidFill>
                  <a:srgbClr val="2F2E2B"/>
                </a:solidFill>
                <a:latin typeface="Helvetica Neue"/>
              </a:rPr>
              <a:t>. That is the specific capability that is missing.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600" b="0">
                <a:solidFill>
                  <a:srgbClr val="2F2E2B"/>
                </a:solidFill>
                <a:latin typeface="Helvetica Neue"/>
              </a:rPr>
              <a:t>Supporting signal: on NOT_FOLLOWED the model under-reports on </a:t>
            </a:r>
            <a:r>
              <a:rPr sz="1600" b="1">
                <a:solidFill>
                  <a:srgbClr val="0B0B0B"/>
                </a:solidFill>
                <a:latin typeface="Helvetica Neue"/>
              </a:rPr>
              <a:t>69%</a:t>
            </a:r>
            <a:r>
              <a:rPr sz="1600" b="0">
                <a:solidFill>
                  <a:srgbClr val="2F2E2B"/>
                </a:solidFill>
                <a:latin typeface="Helvetica Neue"/>
              </a:rPr>
              <a:t> of queries — the highest of any type — consistent with collapsing a set of matches down to 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THE DIAGNOSTIC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Is the model bad at conditions, or bad at hearing?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288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Helvetica Neue"/>
              </a:rPr>
              <a:t>Answer the condition </a:t>
            </a:r>
            <a:r>
              <a:rPr sz="1500" b="1">
                <a:solidFill>
                  <a:srgbClr val="0B0B0B"/>
                </a:solidFill>
                <a:latin typeface="Helvetica Neue"/>
              </a:rPr>
              <a:t>for</a:t>
            </a:r>
            <a:r>
              <a:rPr sz="1500" b="0">
                <a:solidFill>
                  <a:srgbClr val="52514E"/>
                </a:solidFill>
                <a:latin typeface="Helvetica Neue"/>
              </a:rPr>
              <a:t> the model: ground each sound separately, then apply the condition with the same predicates that define the ground truth. Then degrade the grounder on purpose.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2651760"/>
          <a:ext cx="7498078" cy="2651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120639"/>
                <a:gridCol w="2377439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Grounding quality given to the composer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f1@0.5, all 4404 queries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F2E2B"/>
                          </a:solidFill>
                          <a:latin typeface="Helvetica Neue"/>
                        </a:rPr>
                        <a:t>Perfect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F2E2B"/>
                          </a:solidFill>
                          <a:latin typeface="Helvetica Neue"/>
                        </a:rPr>
                        <a:t>1.000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F2E2B"/>
                          </a:solidFill>
                          <a:latin typeface="Helvetica Neue"/>
                        </a:rPr>
                        <a:t>Boundaries jittered ±0.5 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F2E2B"/>
                          </a:solidFill>
                          <a:latin typeface="Helvetica Neue"/>
                        </a:rPr>
                        <a:t>0.925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F2E2B"/>
                          </a:solidFill>
                          <a:latin typeface="Helvetica Neue"/>
                        </a:rPr>
                        <a:t>25% of events missed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F2E2B"/>
                          </a:solidFill>
                          <a:latin typeface="Helvetica Neue"/>
                        </a:rPr>
                        <a:t>0.650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F2E2B"/>
                          </a:solidFill>
                          <a:latin typeface="Helvetica Neue"/>
                        </a:rPr>
                        <a:t>25% spurious detections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F2E2B"/>
                          </a:solidFill>
                          <a:latin typeface="Helvetica Neue"/>
                        </a:rPr>
                        <a:t>0.937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F2E2B"/>
                          </a:solidFill>
                          <a:latin typeface="Helvetica Neue"/>
                        </a:rPr>
                        <a:t>Degraded until PLAIN matches Qwen2.5-Omni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50" b="1">
                          <a:solidFill>
                            <a:srgbClr val="2A78D6"/>
                          </a:solidFill>
                          <a:latin typeface="Helvetica Neue"/>
                        </a:rPr>
                        <a:t>0.263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50" b="0">
                          <a:solidFill>
                            <a:srgbClr val="2F2E2B"/>
                          </a:solidFill>
                          <a:latin typeface="Helvetica Neue"/>
                        </a:rPr>
                        <a:t>Qwen2.5-Omni answering directly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350" b="1">
                          <a:solidFill>
                            <a:srgbClr val="2A78D6"/>
                          </a:solidFill>
                          <a:latin typeface="Helvetica Neue"/>
                        </a:rPr>
                        <a:t>0.243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595360" y="2651760"/>
            <a:ext cx="2880360" cy="2688336"/>
          </a:xfrm>
          <a:prstGeom prst="rect">
            <a:avLst/>
          </a:prstGeom>
          <a:solidFill>
            <a:srgbClr val="F4F7FC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52514E"/>
                </a:solidFill>
                <a:latin typeface="Helvetica Neue"/>
              </a:rPr>
              <a:t>Perfect events give </a:t>
            </a:r>
            <a:r>
              <a:rPr sz="1400" b="1">
                <a:solidFill>
                  <a:srgbClr val="0B0B0B"/>
                </a:solidFill>
                <a:latin typeface="Helvetica Neue"/>
              </a:rPr>
              <a:t>1.000</a:t>
            </a:r>
            <a:r>
              <a:rPr sz="1400" b="0">
                <a:solidFill>
                  <a:srgbClr val="52514E"/>
                </a:solidFill>
                <a:latin typeface="Helvetica Neue"/>
              </a:rPr>
              <a:t> on every condition type.
So the conditions are trivial.
</a:t>
            </a:r>
            <a:r>
              <a:rPr sz="1400" b="1">
                <a:solidFill>
                  <a:srgbClr val="0B0B0B"/>
                </a:solidFill>
                <a:latin typeface="Helvetica Neue"/>
              </a:rPr>
              <a:t>Grounding quality is the binding constraint</a:t>
            </a:r>
            <a:r>
              <a:rPr sz="1400" b="0">
                <a:solidFill>
                  <a:srgbClr val="52514E"/>
                </a:solidFill>
                <a:latin typeface="Helvetica Neue"/>
              </a:rPr>
              <a:t> — essentially the whole gap from 1.000 to 0.26.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THE DIAGNOSTIC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Which produced a falsifiable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202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550" b="0">
                <a:solidFill>
                  <a:srgbClr val="52514E"/>
                </a:solidFill>
                <a:latin typeface="Helvetica Neue"/>
              </a:rPr>
              <a:t>At the model's real grounding quality the two approaches tie overall — 0.263 against 0.243 — but the </a:t>
            </a:r>
            <a:r>
              <a:rPr sz="1550" b="1">
                <a:solidFill>
                  <a:srgbClr val="0B0B0B"/>
                </a:solidFill>
                <a:latin typeface="Helvetica Neue"/>
              </a:rPr>
              <a:t>per-type split is not a tie</a:t>
            </a:r>
            <a:r>
              <a:rPr sz="1550" b="0">
                <a:solidFill>
                  <a:srgbClr val="52514E"/>
                </a:solidFill>
                <a:latin typeface="Helvetica Neue"/>
              </a:rPr>
              <a:t>, and that is testable: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2834640"/>
          <a:ext cx="10765230" cy="14904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82615"/>
                <a:gridCol w="5382615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Predicted: decomposition wins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Predicted: direct prompting wins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F2E2B"/>
                          </a:solidFill>
                          <a:latin typeface="Helvetica Neue"/>
                        </a:rPr>
                        <a:t>AFTER, NEXT_AFTER, WHILE, NOT_FOLLOWED</a:t>
                      </a:r>
                    </a:p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F2E2B"/>
                          </a:solidFill>
                          <a:latin typeface="Helvetica Neue"/>
                        </a:rPr>
                        <a:t>— the four needing a second event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F2E2B"/>
                          </a:solidFill>
                          <a:latin typeface="Helvetica Neue"/>
                        </a:rPr>
                        <a:t>ORDINAL, BEFORE</a:t>
                      </a: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F2E2B"/>
                          </a:solidFill>
                          <a:latin typeface="Helvetica Neue"/>
                        </a:rPr>
                        <a:t>— the two the model already handles,</a:t>
                      </a: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F2E2B"/>
                          </a:solidFill>
                          <a:latin typeface="Helvetica Neue"/>
                        </a:rPr>
                        <a:t>where decomposition pays to ground a</a:t>
                      </a: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F2E2B"/>
                          </a:solidFill>
                          <a:latin typeface="Helvetica Neue"/>
                        </a:rPr>
                        <a:t>reference it does not need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13232" y="5349240"/>
            <a:ext cx="10765231" cy="868680"/>
          </a:xfrm>
          <a:prstGeom prst="rect">
            <a:avLst/>
          </a:prstGeom>
          <a:solidFill>
            <a:srgbClr val="F4F7FC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52514E"/>
                </a:solidFill>
                <a:latin typeface="Helvetica Neue"/>
              </a:rPr>
              <a:t>This prediction was made on </a:t>
            </a:r>
            <a:r>
              <a:rPr sz="1500" b="1">
                <a:solidFill>
                  <a:srgbClr val="0B0B0B"/>
                </a:solidFill>
                <a:latin typeface="Helvetica Neue"/>
              </a:rPr>
              <a:t>CPU, from simulation only</a:t>
            </a:r>
            <a:r>
              <a:rPr sz="1500" b="0">
                <a:solidFill>
                  <a:srgbClr val="52514E"/>
                </a:solidFill>
                <a:latin typeface="Helvetica Neue"/>
              </a:rPr>
              <a:t>, before any of it was run on a GPU. The next slide is the test.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RESULT — 11 SEPTEMBER 2026, HELD-OUT TEST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Tested on the real model: four of six predictions held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12</a:t>
            </a:r>
          </a:p>
        </p:txBody>
      </p:sp>
      <p:pic>
        <p:nvPicPr>
          <p:cNvPr id="6" name="Picture 5" descr="fig2_direct_vs_decomp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375" y="1783080"/>
            <a:ext cx="8698944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55321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2F2E2B"/>
                </a:solidFill>
                <a:latin typeface="Helvetica Neue"/>
              </a:rPr>
              <a:t>Decomposition rescues the relational types as predicted — </a:t>
            </a:r>
            <a:r>
              <a:rPr sz="1350" b="1">
                <a:solidFill>
                  <a:srgbClr val="0B0B0B"/>
                </a:solidFill>
                <a:latin typeface="Helvetica Neue"/>
              </a:rPr>
              <a:t>NEXT_AFTER +57%, NOT_FOLLOWED +47%</a:t>
            </a:r>
            <a:r>
              <a:rPr sz="1350" b="0">
                <a:solidFill>
                  <a:srgbClr val="2F2E2B"/>
                </a:solidFill>
                <a:latin typeface="Helvetica Neue"/>
              </a:rPr>
              <a:t> — and loses BEFORE as predicted. WHILE and ORDINAL went the other way.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2F2E2B"/>
                </a:solidFill>
                <a:latin typeface="Helvetica Neue"/>
              </a:rPr>
              <a:t>Overall the arms nearly cancel (0.207 vs 0.218). The per-type structure, not the average, is the finding — and it is what a per-type hybrid should exploit.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THE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Which grounding error actually costs us?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13</a:t>
            </a:r>
          </a:p>
        </p:txBody>
      </p:sp>
      <p:pic>
        <p:nvPicPr>
          <p:cNvPr id="6" name="Picture 5" descr="fig3_asym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189" y="1828800"/>
            <a:ext cx="6515317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52578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400" b="0">
                <a:solidFill>
                  <a:srgbClr val="2F2E2B"/>
                </a:solidFill>
                <a:latin typeface="Helvetica Neue"/>
              </a:rPr>
              <a:t>A </a:t>
            </a:r>
            <a:r>
              <a:rPr sz="1400" b="1">
                <a:solidFill>
                  <a:srgbClr val="0B0B0B"/>
                </a:solidFill>
                <a:latin typeface="Helvetica Neue"/>
              </a:rPr>
              <a:t>missed</a:t>
            </a:r>
            <a:r>
              <a:rPr sz="1400" b="0">
                <a:solidFill>
                  <a:srgbClr val="2F2E2B"/>
                </a:solidFill>
                <a:latin typeface="Helvetica Neue"/>
              </a:rPr>
              <a:t> event removes a correct interval *and* can corrupt every query that references it — lose the siren and “the horn after the siren” becomes unanswerable. A </a:t>
            </a:r>
            <a:r>
              <a:rPr sz="1400" b="1">
                <a:solidFill>
                  <a:srgbClr val="0B0B0B"/>
                </a:solidFill>
                <a:latin typeface="Helvetica Neue"/>
              </a:rPr>
              <a:t>spurious</a:t>
            </a:r>
            <a:r>
              <a:rPr sz="1400" b="0">
                <a:solidFill>
                  <a:srgbClr val="2F2E2B"/>
                </a:solidFill>
                <a:latin typeface="Helvetica Neue"/>
              </a:rPr>
              <a:t> event usually adds one wrong interval and leaves the rest intact.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400" b="0">
                <a:solidFill>
                  <a:srgbClr val="2F2E2B"/>
                </a:solidFill>
                <a:latin typeface="Helvetica Neue"/>
              </a:rPr>
              <a:t>Cost per unit miss rate </a:t>
            </a:r>
            <a:r>
              <a:rPr sz="1400" b="1">
                <a:solidFill>
                  <a:srgbClr val="0B0B0B"/>
                </a:solidFill>
                <a:latin typeface="Helvetica Neue"/>
              </a:rPr>
              <a:t>1.411</a:t>
            </a:r>
            <a:r>
              <a:rPr sz="1400" b="0">
                <a:solidFill>
                  <a:srgbClr val="2F2E2B"/>
                </a:solidFill>
                <a:latin typeface="Helvetica Neue"/>
              </a:rPr>
              <a:t>; per unit false-alarm rate </a:t>
            </a:r>
            <a:r>
              <a:rPr sz="1400" b="1">
                <a:solidFill>
                  <a:srgbClr val="0B0B0B"/>
                </a:solidFill>
                <a:latin typeface="Helvetica Neue"/>
              </a:rPr>
              <a:t>0.252</a:t>
            </a:r>
            <a:r>
              <a:rPr sz="1400" b="0">
                <a:solidFill>
                  <a:srgbClr val="2F2E2B"/>
                </a:solidFill>
                <a:latin typeface="Helvetica Neue"/>
              </a:rPr>
              <a:t>. Asymmetry </a:t>
            </a:r>
            <a:r>
              <a:rPr sz="1400" b="1">
                <a:solidFill>
                  <a:srgbClr val="0B0B0B"/>
                </a:solidFill>
                <a:latin typeface="Helvetica Neue"/>
              </a:rPr>
              <a:t>5.60×</a:t>
            </a:r>
            <a:r>
              <a:rPr sz="1400" b="0">
                <a:solidFill>
                  <a:srgbClr val="2F2E2B"/>
                </a:solidFill>
                <a:latin typeface="Helvetica Neue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THE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So the objective is measured, not chosen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11680"/>
            <a:ext cx="49377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>
                <a:solidFill>
                  <a:srgbClr val="2A78D6"/>
                </a:solidFill>
                <a:latin typeface="Helvetica Neue"/>
              </a:rPr>
              <a:t>β = 2.37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15468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350" b="0">
                <a:solidFill>
                  <a:srgbClr val="2F2E2B"/>
                </a:solidFill>
                <a:latin typeface="Helvetica Neue"/>
              </a:rPr>
              <a:t>β² = slope(miss) / slope(false alarm) = 1.411 / 0.252 = </a:t>
            </a:r>
            <a:r>
              <a:rPr sz="1350" b="1">
                <a:solidFill>
                  <a:srgbClr val="0B0B0B"/>
                </a:solidFill>
                <a:latin typeface="Helvetica Neue"/>
              </a:rPr>
              <a:t>5.60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350" b="0">
                <a:solidFill>
                  <a:srgbClr val="2F2E2B"/>
                </a:solidFill>
                <a:latin typeface="Helvetica Neue"/>
              </a:rPr>
              <a:t>β = √5.60 = </a:t>
            </a:r>
            <a:r>
              <a:rPr sz="1350" b="1">
                <a:solidFill>
                  <a:srgbClr val="0B0B0B"/>
                </a:solidFill>
                <a:latin typeface="Helvetica Neue"/>
              </a:rPr>
              <a:t>2.37</a:t>
            </a:r>
            <a:r>
              <a:rPr sz="1350" b="0">
                <a:solidFill>
                  <a:srgbClr val="2F2E2B"/>
                </a:solidFill>
                <a:latin typeface="Helvetica Neue"/>
              </a:rPr>
              <a:t>  —  read off the curves, not tuned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350" b="0">
                <a:solidFill>
                  <a:srgbClr val="2F2E2B"/>
                </a:solidFill>
                <a:latin typeface="Helvetica Neue"/>
              </a:rPr>
              <a:t>F_β = (1 + β²) · P · R / (β² · P + R)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350" b="0">
                <a:solidFill>
                  <a:srgbClr val="2F2E2B"/>
                </a:solidFill>
                <a:latin typeface="Helvetica Neue"/>
              </a:rPr>
              <a:t>Pinned by a unit test so it cannot quietly become a hyperparameter.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2148840"/>
          <a:ext cx="5166358" cy="1188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91050"/>
                <a:gridCol w="1087654"/>
                <a:gridCol w="1087654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Prediction against 3 gold intervals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f1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F-2.37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F2E2B"/>
                          </a:solidFill>
                          <a:latin typeface="Helvetica Neue"/>
                        </a:rPr>
                        <a:t>misses one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F2E2B"/>
                          </a:solidFill>
                          <a:latin typeface="Helvetica Neue"/>
                        </a:rPr>
                        <a:t>0.800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F2E2B"/>
                          </a:solidFill>
                          <a:latin typeface="Helvetica Neue"/>
                        </a:rPr>
                        <a:t>0.702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F2E2B"/>
                          </a:solidFill>
                          <a:latin typeface="Helvetica Neue"/>
                        </a:rPr>
                        <a:t>invents one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F2E2B"/>
                          </a:solidFill>
                          <a:latin typeface="Helvetica Neue"/>
                        </a:rPr>
                        <a:t>0.857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F2E2B"/>
                          </a:solidFill>
                          <a:latin typeface="Helvetica Neue"/>
                        </a:rPr>
                        <a:t>0.952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309360" y="3840480"/>
            <a:ext cx="5166360" cy="1371600"/>
          </a:xfrm>
          <a:prstGeom prst="rect">
            <a:avLst/>
          </a:prstGeom>
          <a:solidFill>
            <a:srgbClr val="F4F7FC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52514E"/>
                </a:solidFill>
                <a:latin typeface="Helvetica Neue"/>
              </a:rPr>
              <a:t>Under f1 the two are nearly equivalent. Under the </a:t>
            </a:r>
            <a:r>
              <a:rPr sz="1400" b="1">
                <a:solidFill>
                  <a:srgbClr val="0B0B0B"/>
                </a:solidFill>
                <a:latin typeface="Helvetica Neue"/>
              </a:rPr>
              <a:t>measured</a:t>
            </a:r>
            <a:r>
              <a:rPr sz="1400" b="0">
                <a:solidFill>
                  <a:srgbClr val="52514E"/>
                </a:solidFill>
                <a:latin typeface="Helvetica Neue"/>
              </a:rPr>
              <a:t> beta they are not — and the training signal follows: the rejected side of a preference pair always under-detects.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5440680"/>
            <a:ext cx="10765231" cy="822960"/>
          </a:xfrm>
          <a:prstGeom prst="rect">
            <a:avLst/>
          </a:prstGeom>
          <a:solidFill>
            <a:srgbClr val="F4F7FC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52514E"/>
                </a:solidFill>
                <a:latin typeface="Helvetica Neue"/>
              </a:rPr>
              <a:t>This quantity is only measurable on a benchmark where conditions depend on a second event. </a:t>
            </a:r>
            <a:r>
              <a:rPr sz="1500" b="1">
                <a:solidFill>
                  <a:srgbClr val="0B0B0B"/>
                </a:solidFill>
                <a:latin typeface="Helvetica Neue"/>
              </a:rPr>
              <a:t>New task → new measurable quantity → objective derived from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A negative result: the decoder did not survive contact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15</a:t>
            </a:r>
          </a:p>
        </p:txBody>
      </p:sp>
      <p:pic>
        <p:nvPicPr>
          <p:cNvPr id="6" name="Picture 5" descr="fig4_deco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778" y="1783080"/>
            <a:ext cx="5732138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52578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2F2E2B"/>
                </a:solidFill>
                <a:latin typeface="Helvetica Neue"/>
              </a:rPr>
              <a:t>Sampling k times and keeping intervals that appear in at least 2 samples reached </a:t>
            </a:r>
            <a:r>
              <a:rPr sz="1350" b="1">
                <a:solidFill>
                  <a:srgbClr val="0B0B0B"/>
                </a:solidFill>
                <a:latin typeface="Helvetica Neue"/>
              </a:rPr>
              <a:t>0.951</a:t>
            </a:r>
            <a:r>
              <a:rPr sz="1350" b="0">
                <a:solidFill>
                  <a:srgbClr val="2F2E2B"/>
                </a:solidFill>
                <a:latin typeface="Helvetica Neue"/>
              </a:rPr>
              <a:t> on a simulated grounder with independent noise. On the real model it scores </a:t>
            </a:r>
            <a:r>
              <a:rPr sz="1350" b="1">
                <a:solidFill>
                  <a:srgbClr val="0B0B0B"/>
                </a:solidFill>
                <a:latin typeface="Helvetica Neue"/>
              </a:rPr>
              <a:t>0.150</a:t>
            </a:r>
            <a:r>
              <a:rPr sz="1350" b="0">
                <a:solidFill>
                  <a:srgbClr val="2F2E2B"/>
                </a:solidFill>
                <a:latin typeface="Helvetica Neue"/>
              </a:rPr>
              <a:t>, below single-sample decoding.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2F2E2B"/>
                </a:solidFill>
                <a:latin typeface="Helvetica Neue"/>
              </a:rPr>
              <a:t>The simulation's independence assumption was the load-bearing one. </a:t>
            </a:r>
            <a:r>
              <a:rPr sz="1350" b="1">
                <a:solidFill>
                  <a:srgbClr val="0B0B0B"/>
                </a:solidFill>
                <a:latin typeface="Helvetica Neue"/>
              </a:rPr>
              <a:t>The β = 2.37 finding is untouched</a:t>
            </a:r>
            <a:r>
              <a:rPr sz="1350" b="0">
                <a:solidFill>
                  <a:srgbClr val="2F2E2B"/>
                </a:solidFill>
                <a:latin typeface="Helvetica Neue"/>
              </a:rPr>
              <a:t> — it is a property of the benchmark, not of the decoder — but this mechanism is reported as refuted.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STATUS, 12 SEPTEMBER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Where it stands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920240"/>
          <a:ext cx="10765229" cy="26334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0615"/>
                <a:gridCol w="4561538"/>
                <a:gridCol w="3193076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Arm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What it is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A  direct prompting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Ask the model the conditional query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2A78D6"/>
                          </a:solidFill>
                          <a:latin typeface="Helvetica Neue"/>
                        </a:rPr>
                        <a:t>Run — 0.207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B  decompose-and-combine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Two plain calls, condition applied locally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2A78D6"/>
                          </a:solidFill>
                          <a:latin typeface="Helvetica Neue"/>
                        </a:rPr>
                        <a:t>Run — 0.218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D  hybrid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Per-type choice between A and 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B14A2A"/>
                          </a:solidFill>
                          <a:latin typeface="Helvetica Neue"/>
                        </a:rPr>
                        <a:t>Blocked — no validation split was scored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C  QLoRA, text timestamps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Fine-tune the thinker, encoder frozen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B14A2A"/>
                          </a:solidFill>
                          <a:latin typeface="Helvetica Neue"/>
                        </a:rPr>
                        <a:t>Never trained — CUDA OOM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E  QLoRA, atomic time tokens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One token per quantised time (per TEMPO)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B14A2A"/>
                          </a:solidFill>
                          <a:latin typeface="Helvetica Neue"/>
                        </a:rPr>
                        <a:t>Never trained — CUDA OOM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89204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 b="0">
                <a:solidFill>
                  <a:srgbClr val="2F2E2B"/>
                </a:solidFill>
                <a:latin typeface="Helvetica Neue"/>
              </a:rPr>
              <a:t>A 5 h 34 m run on two T4s completed the inference arms and </a:t>
            </a:r>
            <a:r>
              <a:rPr sz="1400" b="1">
                <a:solidFill>
                  <a:srgbClr val="0B0B0B"/>
                </a:solidFill>
                <a:latin typeface="Helvetica Neue"/>
              </a:rPr>
              <a:t>failed both fine-tuning arms</a:t>
            </a:r>
            <a:r>
              <a:rPr sz="1400" b="0">
                <a:solidFill>
                  <a:srgbClr val="2F2E2B"/>
                </a:solidFill>
                <a:latin typeface="Helvetica Neue"/>
              </a:rPr>
              <a:t>: backward pass out of memory on a 14.6 GB card. Neither has ever trained.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 b="0">
                <a:solidFill>
                  <a:srgbClr val="2F2E2B"/>
                </a:solidFill>
                <a:latin typeface="Helvetica Neue"/>
              </a:rPr>
              <a:t>Fixes identified: gradient checkpointing and shorter audio windows, or one larger GPU. Two smaller bugs — a missing import that killed the precision sweep, and an unscored validation split that silently turned the hybrid into a copy of arm 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What this evidence does not yet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74519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500" b="1">
                <a:solidFill>
                  <a:srgbClr val="0B0B0B"/>
                </a:solidFill>
                <a:latin typeface="Helvetica Neue"/>
              </a:rPr>
              <a:t>Composed audio only.</a:t>
            </a:r>
            <a:r>
              <a:rPr sz="1500" b="0">
                <a:solidFill>
                  <a:srgbClr val="2F2E2B"/>
                </a:solidFill>
                <a:latin typeface="Helvetica Neue"/>
              </a:rPr>
              <a:t> Sounds mixed onto a synthetic timeline. Nothing here generalises to real recordings yet — that is the critical path, not an afterthought.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500" b="1">
                <a:solidFill>
                  <a:srgbClr val="0B0B0B"/>
                </a:solidFill>
                <a:latin typeface="Helvetica Neue"/>
              </a:rPr>
              <a:t>One prompt, one model.</a:t>
            </a:r>
            <a:r>
              <a:rPr sz="1500" b="0">
                <a:solidFill>
                  <a:srgbClr val="2F2E2B"/>
                </a:solidFill>
                <a:latin typeface="Helvetica Neue"/>
              </a:rPr>
              <a:t> No prompt-sensitivity study. TAG-Bench notes that an explicit “enumerate all intervals” instruction is an untested intervention; it should be baseline #1.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500" b="1">
                <a:solidFill>
                  <a:srgbClr val="0B0B0B"/>
                </a:solidFill>
                <a:latin typeface="Helvetica Neue"/>
              </a:rPr>
              <a:t>No fine-tuned arm.</a:t>
            </a:r>
            <a:r>
              <a:rPr sz="1500" b="0">
                <a:solidFill>
                  <a:srgbClr val="2F2E2B"/>
                </a:solidFill>
                <a:latin typeface="Helvetica Neue"/>
              </a:rPr>
              <a:t> Every number on these slides is zero-shot or training-free.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500" b="1">
                <a:solidFill>
                  <a:srgbClr val="0B0B0B"/>
                </a:solidFill>
                <a:latin typeface="Helvetica Neue"/>
              </a:rPr>
              <a:t>“Cannot ground” is benchmark-specific.</a:t>
            </a:r>
            <a:r>
              <a:rPr sz="1500" b="0">
                <a:solidFill>
                  <a:srgbClr val="2F2E2B"/>
                </a:solidFill>
                <a:latin typeface="Helvetica Neue"/>
              </a:rPr>
              <a:t> Another paper (2607.25355) measures Qwen2-Audio at 0.3653 mIoU zero-shot on its own task. Different data, different metric, 4-bit here — so the claim is about this benchmark and this prompt, not the model in general.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500" b="1">
                <a:solidFill>
                  <a:srgbClr val="0B0B0B"/>
                </a:solidFill>
                <a:latin typeface="Helvetica Neue"/>
              </a:rPr>
              <a:t>f1@0.5 conflates two failures</a:t>
            </a:r>
            <a:r>
              <a:rPr sz="1500" b="0">
                <a:solidFill>
                  <a:srgbClr val="2F2E2B"/>
                </a:solidFill>
                <a:latin typeface="Helvetica Neue"/>
              </a:rPr>
              <a:t> — wrong place and wrong duration. Centre error and duration ratio are reported alongside it for that reason.</a:t>
            </a:r>
          </a:p>
          <a:p>
            <a:pPr>
              <a:lnSpc>
                <a:spcPct val="130000"/>
              </a:lnSpc>
              <a:spcAft>
                <a:spcPts val="1300"/>
              </a:spcAft>
            </a:pPr>
            <a:r>
              <a:rPr sz="1500" b="1">
                <a:solidFill>
                  <a:srgbClr val="0B0B0B"/>
                </a:solidFill>
                <a:latin typeface="Helvetica Neue"/>
              </a:rPr>
              <a:t>The 5.60× asymmetry is measured on this query mix.</a:t>
            </a:r>
            <a:r>
              <a:rPr sz="1500" b="0">
                <a:solidFill>
                  <a:srgbClr val="2F2E2B"/>
                </a:solidFill>
                <a:latin typeface="Helvetica Neue"/>
              </a:rPr>
              <a:t> On another distribution, re-derive β rather than importing this number.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Six-month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874519"/>
          <a:ext cx="10765229" cy="26151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2307"/>
                <a:gridCol w="5838769"/>
                <a:gridCol w="4014153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Month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Work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Why now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F2E2B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F2E2B"/>
                          </a:solidFill>
                          <a:latin typeface="Helvetica Neue"/>
                        </a:rPr>
                        <a:t>Fix the OOM, train arms C and E; put the benchmark and the</a:t>
                      </a: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F2E2B"/>
                          </a:solidFill>
                          <a:latin typeface="Helvetica Neue"/>
                        </a:rPr>
                        <a:t>decomposition diagnosis on arXiv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F2E2B"/>
                          </a:solidFill>
                          <a:latin typeface="Helvetica Neue"/>
                        </a:rPr>
                        <a:t>TAG-Bench (Alibaba) appeared 2 Sep and is one step away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F2E2B"/>
                          </a:solidFill>
                          <a:latin typeface="Helvetica Neue"/>
                        </a:rPr>
                        <a:t>2–3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0B0B0B"/>
                          </a:solidFill>
                          <a:latin typeface="Helvetica Neue"/>
                        </a:rPr>
                        <a:t>Real recordings</a:t>
                      </a:r>
                      <a:r>
                        <a:rPr sz="1200" b="0">
                          <a:solidFill>
                            <a:srgbClr val="2F2E2B"/>
                          </a:solidFill>
                          <a:latin typeface="Helvetica Neue"/>
                        </a:rPr>
                        <a:t> — derive conditional queries from DESED /</a:t>
                      </a: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F2E2B"/>
                          </a:solidFill>
                          <a:latin typeface="Helvetica Neue"/>
                        </a:rPr>
                        <a:t>AudioSet-strong, hand-verify ~300 clips, rerun every arm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F2E2B"/>
                          </a:solidFill>
                          <a:latin typeface="Helvetica Neue"/>
                        </a:rPr>
                        <a:t>The critical path. Starts in month 2, not month 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F2E2B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F2E2B"/>
                          </a:solidFill>
                          <a:latin typeface="Helvetica Neue"/>
                        </a:rPr>
                        <a:t>β as a verifiable GRPO reward rather than offline preference pairs;</a:t>
                      </a: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F2E2B"/>
                          </a:solidFill>
                          <a:latin typeface="Helvetica Neue"/>
                        </a:rPr>
                        <a:t>rerun recall-biased decoding with a real model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F2E2B"/>
                          </a:solidFill>
                          <a:latin typeface="Helvetica Neue"/>
                        </a:rPr>
                        <a:t>The offline-pair and voting forms are now known to be weak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F2E2B"/>
                          </a:solidFill>
                          <a:latin typeface="Helvetica Neue"/>
                        </a:rPr>
                        <a:t>5–6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0">
                          <a:solidFill>
                            <a:srgbClr val="2F2E2B"/>
                          </a:solidFill>
                          <a:latin typeface="Helvetica Neue"/>
                        </a:rPr>
                        <a:t>Writing and defence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13232" y="5440680"/>
            <a:ext cx="10765231" cy="914400"/>
          </a:xfrm>
          <a:prstGeom prst="rect">
            <a:avLst/>
          </a:prstGeom>
          <a:solidFill>
            <a:srgbClr val="F4F7FC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128016"/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52514E"/>
                </a:solidFill>
                <a:latin typeface="Helvetica Neue"/>
              </a:rPr>
              <a:t>Out of scope, stated as future work: large-scale annotation, long-form audio (where a flat timestamp vocabulary grows with duration), and whether the 5.60× asymmetry also holds in </a:t>
            </a:r>
            <a:r>
              <a:rPr sz="1400" b="1">
                <a:solidFill>
                  <a:srgbClr val="0B0B0B"/>
                </a:solidFill>
                <a:latin typeface="Helvetica Neue"/>
              </a:rPr>
              <a:t>video</a:t>
            </a:r>
            <a:r>
              <a:rPr sz="1400" b="0">
                <a:solidFill>
                  <a:srgbClr val="52514E"/>
                </a:solidFill>
                <a:latin typeface="Helvetica Neue"/>
              </a:rPr>
              <a:t> — the most interesting extension, since it would generalise the claim beyond audio.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652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8A8880"/>
                </a:solidFill>
                <a:latin typeface="Helvetica Neue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86384"/>
            <a:ext cx="10765231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B0B0B"/>
                </a:solidFill>
                <a:latin typeface="Helvetica Neue"/>
              </a:rPr>
              <a:t>Contributions, stated honestly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08176"/>
            <a:ext cx="96012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81183" y="63825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A8880"/>
                </a:solidFill>
                <a:latin typeface="Helvetica Neue"/>
              </a:rPr>
              <a:t>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920240"/>
          <a:ext cx="10765230" cy="35021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82615"/>
                <a:gridCol w="5382615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Novel here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52514E"/>
                          </a:solidFill>
                          <a:latin typeface="Helvetica Neue"/>
                        </a:rPr>
                        <a:t>Not novel — cited, not claimed</a:t>
                      </a:r>
                    </a:p>
                  </a:txBody>
                  <a:tcPr marL="73152" marR="73152" marT="18288" marB="18288" anchor="ctr">
                    <a:solidFill>
                      <a:srgbClr val="F4F7F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The task and benchmark: interval-set answers to</a:t>
                      </a:r>
                    </a:p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conditional temporal queries over audio, with exact</a:t>
                      </a:r>
                    </a:p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programmatic ground truth and rejection queries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Atomic timestamp tokens — TEMPO, TimeAudio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The ceiling diagnostic that separates “conditions are</a:t>
                      </a:r>
                    </a:p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hard” from “grounding is bad”, and the per-type</a:t>
                      </a:r>
                    </a:p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prediction it generates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Decompose-and-combine — CoMET-Agent, in video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The </a:t>
                      </a:r>
                      <a:r>
                        <a:rPr sz="1250" b="1">
                          <a:solidFill>
                            <a:srgbClr val="0B0B0B"/>
                          </a:solidFill>
                          <a:latin typeface="Helvetica Neue"/>
                        </a:rPr>
                        <a:t>5.60× miss/false-alarm asymmetry</a:t>
                      </a: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 and the</a:t>
                      </a:r>
                    </a:p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objective derived from it — measurable only on a</a:t>
                      </a:r>
                    </a:p>
                    <a:p>
                      <a:pPr algn="l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benchmark where conditions depend on a second event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LoRA fine-tuning for grounding — standard</a:t>
                      </a: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Task framing is a port of CoMET-Bench from video;</a:t>
                      </a: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the defences are the mixing-made WHILE conditions,</a:t>
                      </a: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2F2E2B"/>
                          </a:solidFill>
                          <a:latin typeface="Helvetica Neue"/>
                        </a:rPr>
                        <a:t>the ceiling diagnostic, and the asymmetry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